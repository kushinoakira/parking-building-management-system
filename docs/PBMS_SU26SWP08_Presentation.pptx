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18288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FPT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2179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SWP391 — Software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Segoe UI"/>
              </a:rPr>
              <a:t>PARKING BUILDING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0D4FF"/>
                </a:solidFill>
                <a:latin typeface="Segoe UI"/>
              </a:rPr>
              <a:t>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BECF"/>
                </a:solidFill>
                <a:latin typeface="Segoe UI"/>
              </a:rPr>
              <a:t>PBMS — SU26SWP08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566160"/>
            <a:ext cx="7315200" cy="274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ECF"/>
                </a:solidFill>
                <a:latin typeface="Segoe UI"/>
              </a:rPr>
              <a:t>📋  Nhóm phát triển SU26SWP08  |  Tháng 7,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A4A5C"/>
                </a:solidFill>
                <a:latin typeface="Segoe UI"/>
              </a:rPr>
              <a:t>Điền tên thành viên tại đây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987552" cy="2560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987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Cấu trúc buổi bảo vệ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Tổng thời gian: 45 phút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02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5120640" cy="10972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4864" cy="10972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FF"/>
                </a:solidFill>
                <a:latin typeface="Segoe UI"/>
              </a:rPr>
              <a:t>🔷 BLOCK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Mở đầu &amp; Bài toán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542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~3 phút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1828800"/>
            <a:ext cx="5120640" cy="10972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1828800"/>
            <a:ext cx="54864" cy="109728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1920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A"/>
                </a:solidFill>
                <a:latin typeface="Segoe UI"/>
              </a:rPr>
              <a:t>🔷 BLOCK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Giải pháp &amp; Phạm 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1" y="25420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~4 phút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5120640" cy="10972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54864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291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Segoe UI"/>
              </a:rPr>
              <a:t>🔷 BLOCK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3520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Kiến trúc &amp; Kỹ thuật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9136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~8 phút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200400"/>
            <a:ext cx="5120640" cy="10972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200400"/>
            <a:ext cx="54864" cy="109728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99631" y="3291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4C4C"/>
                </a:solidFill>
                <a:latin typeface="Segoe UI"/>
              </a:rPr>
              <a:t>🔴 BLOCK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1" y="35204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Live Demo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1" y="39136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~15 phút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10698480" cy="10972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572000"/>
            <a:ext cx="54864" cy="10972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663440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Segoe UI"/>
              </a:rPr>
              <a:t>🔷 BLOCK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4892040"/>
            <a:ext cx="104241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Kết quả &amp; Roadmap + Q&amp;A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5285232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~15 phút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1225296" cy="25603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2252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BÀI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Vấn đề của bãi đỗ xe truyền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6 pain points thực tế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03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760720" cy="123444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4864" cy="12344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20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❌  Không có bản đồ slot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30428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Nhân viên tuần tra thủ công → tắc nghẽn giờ cao điểm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760720" cy="123444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4864" cy="12344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202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❌  Tính phí thủ công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30428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Tính nhẩm, thối tiền sai → thiếu minh bạch với khách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46120"/>
            <a:ext cx="5760720" cy="123444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46120"/>
            <a:ext cx="54864" cy="12344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337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❌  Không có đặt chỗ trước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7216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Khách VIP không có ưu tiên → trải nghiệm kém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46120"/>
            <a:ext cx="5760720" cy="123444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246120"/>
            <a:ext cx="54864" cy="12344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337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❌  Quản lý vi phạm bằng sổ giấy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721608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Không truy xuất lịch sử, dễ thất lạc hồ sơ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5760720" cy="123444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54864" cy="12344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47548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❌  Báo cáo doanh thu chậm trễ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5138927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Manager tổng hợp Excel cuối ngày, không ra quyết định kịp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663440"/>
            <a:ext cx="5760720" cy="123444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663440"/>
            <a:ext cx="54864" cy="123444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4754879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❌  Không kiểm soát loại xe / làn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5138927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Xe xăng đỗ khu EV, xe tải vào khu xe máy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1344168" cy="25603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344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GIẢI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Tổng quan sản phẩm PBMS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Số hóa toàn diện vòng đời một phiên đỗ 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04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474720" cy="9601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4864" cy="9601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A"/>
                </a:solidFill>
                <a:latin typeface="Segoe UI"/>
              </a:rPr>
              <a:t>🏢  4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40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800+ chỗ đỗ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26080"/>
            <a:ext cx="3474720" cy="9601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926080"/>
            <a:ext cx="54864" cy="9601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92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A"/>
                </a:solidFill>
                <a:latin typeface="Segoe UI"/>
              </a:rPr>
              <a:t>🗺️  104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A–Z × 4 floors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3474720" cy="9601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54864" cy="9601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9651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A"/>
                </a:solidFill>
                <a:latin typeface="Segoe UI"/>
              </a:rPr>
              <a:t>🚗  5 Loại xe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Motorbike, Car, EV variants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20640"/>
            <a:ext cx="3474720" cy="9601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5120640"/>
            <a:ext cx="54864" cy="9601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19379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A"/>
                </a:solidFill>
                <a:latin typeface="Segoe UI"/>
              </a:rPr>
              <a:t>⚡  EV Zones E–I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Tích hợp trạm sạc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16916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Vòng đời phiên đỗ xe (End-to-End)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194560"/>
            <a:ext cx="7589520" cy="694944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2194560"/>
            <a:ext cx="54864" cy="69494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359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FF"/>
                </a:solidFill>
                <a:latin typeface="Segoe UI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235915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📅  Đặt chỗ trước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8895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Segoe U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035808"/>
            <a:ext cx="7589520" cy="694944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035808"/>
            <a:ext cx="54864" cy="69494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3200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Segoe U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0040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📷  Check-in OCR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730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Segoe UI"/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3877056"/>
            <a:ext cx="7589520" cy="694944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06240" y="3877056"/>
            <a:ext cx="54864" cy="694944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404164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A"/>
                </a:solidFill>
                <a:latin typeface="Segoe UI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04164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🗺️  Giám sát Real-time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45720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Segoe U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718304"/>
            <a:ext cx="7589520" cy="694944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4718304"/>
            <a:ext cx="54864" cy="69494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48828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107"/>
                </a:solidFill>
                <a:latin typeface="Segoe U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0" y="488289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💰  Tính phí &amp; Checkout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41324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A4A5C"/>
                </a:solidFill>
                <a:latin typeface="Segoe UI"/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5559552"/>
            <a:ext cx="7589520" cy="694944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06240" y="5559552"/>
            <a:ext cx="54864" cy="69494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43400" y="572414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CFF"/>
                </a:solidFill>
                <a:latin typeface="Segoe UI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0" y="5724144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📊 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2889504" cy="2560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USER ROLES &amp;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Đối tượng người dùng &amp; Phân quyền RBAC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42 Use Cases | 4 Roles | 9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05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760720" cy="20574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760720" cy="34747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👤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Tạo &amp; quản lý tài khoản nội bộ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Khóa/mở tài khoản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Cấu hình hệ thống (grace period, VIP surcharge...)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Xem toàn bộ audit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760720" cy="20574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760720" cy="34747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836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📊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Thiết lập chính sách giá theo loại xe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Quản lý 104 zones &amp; 800 slots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Xem Dashboard KPI real-time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Xử lý incidents, quản lý gói tháng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69080"/>
            <a:ext cx="5760720" cy="20574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57607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1239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🧑‍💼 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8056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Check-in xe (OCR + thủ công)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Check-out &amp; thu phí (Cash/EWallet)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Xem bản đồ slot, tạo incident report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Xác nhận / hủy đặt chỗ trước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4069080"/>
            <a:ext cx="5760720" cy="20574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069080"/>
            <a:ext cx="5760720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1239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🚗 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80560"/>
            <a:ext cx="54864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Đăng ký / Login (Email + Google OAuth)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Đặt chỗ trước, mua vé tháng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Nạp ví qua PayOS QR, tự check-out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B0BECF"/>
                </a:solidFill>
                <a:latin typeface="Segoe UI"/>
              </a:rPr>
              <a:t>▸ Xem lịch sử, nhận thông báo real-time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3620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Segoe UI"/>
              </a:rPr>
              <a:t>Tổng 42 Use Cases phân theo module: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ECF"/>
                </a:solidFill>
                <a:latin typeface="Segoe UI"/>
              </a:rPr>
              <a:t>Auth (5)  |  Facility (6)  |  Operations (6)  |  Payment (4)  |  Reservation (3)  |  Subscription (3)  |  Incident (3)  |  Analytics (7)  |  Self-service (5)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2414015" cy="2560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KIẾN TRÚC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Monolithic Layered Architecture + CI/CD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1 API | 1 DB | 3-Tier | Docker → Railway + Firebase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06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3474720" cy="1828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3474720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83664"/>
            <a:ext cx="3291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CLIENT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2918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ECF"/>
                </a:solidFill>
                <a:latin typeface="Segoe UI"/>
              </a:rPr>
              <a:t>React 18 + Vite + Tailwind CSS
Firebase Hosting (CDN Global)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3657600" cy="1828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828800"/>
            <a:ext cx="3657600" cy="34747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1883664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API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22860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ECF"/>
                </a:solidFill>
                <a:latin typeface="Segoe UI"/>
              </a:rPr>
              <a:t>.NET 10 Web API + SignalR
EF Core 10 | Docker → Railway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3566160" cy="1828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828800"/>
            <a:ext cx="3566160" cy="34747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883664"/>
            <a:ext cx="33832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DATA TIER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3832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B0BECF"/>
                </a:solidFill>
                <a:latin typeface="Segoe UI"/>
              </a:rPr>
              <a:t>PostgreSQL 14
17 core tables | Npgsql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514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8CFF"/>
                </a:solidFill>
                <a:latin typeface="Segoe UI"/>
              </a:rPr>
              <a:t>◀──▶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14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8CFF"/>
                </a:solidFill>
                <a:latin typeface="Segoe UI"/>
              </a:rPr>
              <a:t>◀──▶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8862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Segoe UI"/>
              </a:rPr>
              <a:t>External Integrations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51960"/>
            <a:ext cx="2834640" cy="8686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251960"/>
            <a:ext cx="45720" cy="8686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31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🔑 Google OAuth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F"/>
                </a:solidFill>
                <a:latin typeface="Segoe UI"/>
              </a:rPr>
              <a:t>Federated login cho Driver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251960"/>
            <a:ext cx="2834640" cy="8686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37560" y="4251960"/>
            <a:ext cx="45720" cy="86868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0" y="431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💳 PayOS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5902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F"/>
                </a:solidFill>
                <a:latin typeface="Segoe UI"/>
              </a:rPr>
              <a:t>Payment link + HMAC Webhook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4251960"/>
            <a:ext cx="2834640" cy="8686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4251960"/>
            <a:ext cx="45720" cy="868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431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📷 PaddleOCR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5902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F"/>
                </a:solidFill>
                <a:latin typeface="Segoe UI"/>
              </a:rPr>
              <a:t>Windows local plate OCR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4251960"/>
            <a:ext cx="2834640" cy="8686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81160" y="4251960"/>
            <a:ext cx="45720" cy="8686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0" y="431596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Segoe UI"/>
              </a:rPr>
              <a:t>🌐 PlateRecognizer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459028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F"/>
                </a:solidFill>
                <a:latin typeface="Segoe UI"/>
              </a:rPr>
              <a:t>Linux/cloud OCR 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2578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CI/CD Pipeline: Push → GitHub Actions (Build + Secret Scan + Deploy) → Railway API | Firebase SPA → Smoke 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1938528" cy="25603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CORE 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Real-Time Slot Map &amp; Smart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SignalR WebSocket | Serializable Transaction | Zero Race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Trạng thái Slot — Color Coding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123444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3042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E09A"/>
                </a:solidFill>
                <a:latin typeface="Segoe UI"/>
              </a:rPr>
              <a:t>🟢 Available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2240280"/>
            <a:ext cx="123444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23042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C4C"/>
                </a:solidFill>
                <a:latin typeface="Segoe UI"/>
              </a:rPr>
              <a:t>🔴 Occupied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0" y="2240280"/>
            <a:ext cx="123444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23042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C107"/>
                </a:solidFill>
                <a:latin typeface="Segoe UI"/>
              </a:rPr>
              <a:t>🟡 Reserved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240280"/>
            <a:ext cx="123444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230428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A4A5C"/>
                </a:solidFill>
                <a:latin typeface="Segoe UI"/>
              </a:rPr>
              <a:t>⬜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26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SignalR Hub — 3 Broadcast Groups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37560"/>
            <a:ext cx="548640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45720" cy="5029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4107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9A"/>
                </a:solidFill>
                <a:latin typeface="Segoe UI"/>
              </a:rPr>
              <a:t>Group "all"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4107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slotUpdated → cập nhật bản đồ tất cả clients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548640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45720" cy="5029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05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9A"/>
                </a:solidFill>
                <a:latin typeface="Segoe UI"/>
              </a:rPr>
              <a:t>Group "operations"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00507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dashboardRefresh → KPI Manager real-time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526280"/>
            <a:ext cx="5486400" cy="50292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45720" cy="50292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994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9A"/>
                </a:solidFill>
                <a:latin typeface="Segoe UI"/>
              </a:rPr>
              <a:t>Group "driver:{id}"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59943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Personal notification (ví, session end)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8288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SlotAllocationService — Thuật toán cấp phát thông minh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286000"/>
            <a:ext cx="5577840" cy="685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2286000"/>
            <a:ext cx="365760" cy="68580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245059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56832" y="23591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Filter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26517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Chỉ xét slots đúng VehicleType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090672"/>
            <a:ext cx="5577840" cy="685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090672"/>
            <a:ext cx="365760" cy="68580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25526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31638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Zone rank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56832" y="3456432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Chọn zone có tỷ lệ lấp đầy thấp nhất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895344"/>
            <a:ext cx="5577840" cy="685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895344"/>
            <a:ext cx="365760" cy="68580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405993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56832" y="39684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VIP check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56832" y="4261104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Slot vị trí 1 = VIP (+10.000 VND)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4700016"/>
            <a:ext cx="5577840" cy="685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17920" y="4700016"/>
            <a:ext cx="365760" cy="68580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486460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6832" y="47731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Lock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6832" y="5065776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Serializable Tx — prevent concurrent assign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5504688"/>
            <a:ext cx="5577840" cy="6858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5504688"/>
            <a:ext cx="365760" cy="68580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36208" y="566927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56832" y="55778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Broadcast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6832" y="5870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SignalR → slotUpdated tới group 'all'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solidFill>
            <a:srgbClr val="052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431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E09A"/>
                </a:solidFill>
                <a:latin typeface="Segoe UI"/>
              </a:rPr>
              <a:t>⚡  ISS-001 RESOLVED: Serializable Transaction ngăn chặn hoàn toàn race condition — 2 request đồng thời cho 1 slot, PostgreSQL serialize và reject 1 trong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1938528" cy="2560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9385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CORE FEATURE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Check-in / Check-out &amp; Thanh toán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OCR → Auto Slot → Pricing Formula → PayOS EWallet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🚗  Luồng CHECK-IN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76272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Xe đến → Staff scan OCR (PaddleOCR/PlateRec)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Validate: không có session đang active (BR-001)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SlotAllocationService → cấp slot tối ưu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Serializable Tx → ParkingSessions INSERT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Response: TicketCode + SlotNumber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SignalR → slotUpdated broadcast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Segoe UI"/>
              </a:rPr>
              <a:t>💰  Công thức Tính phí (PricingService)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852160" cy="2103120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2402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hours = ceil(ExitTime - EntryTime)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6032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fee   = hours × hourly_rate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88036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if fee &gt; daily_cap: fee = daily_cap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if duration ≤ grace_period: fee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5204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if active_subscription: fee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84048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0D4FF"/>
                </a:solidFill>
                <a:latin typeface="Segoe UI"/>
              </a:rPr>
              <a:t>total = fee + vip_surcharge + penalty_fee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634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09A"/>
                </a:solidFill>
                <a:latin typeface="Segoe UI"/>
              </a:rPr>
              <a:t>🏁  Luồng CHECK-OUT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047488"/>
            <a:ext cx="54864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Query session (TicketCode / Plate)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Preview phí để Staff xác nhận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Chọn PT: Cash | BankTransfer | EWallet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EWallet: WalletService.DeductAsync() — Serializable Tx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Session → Completed | Slot → Available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B0BECF"/>
                </a:solidFill>
                <a:latin typeface="Segoe UI"/>
              </a:rPr>
              <a:t>▸ SignalR broadcast + Payment record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663440"/>
            <a:ext cx="5852160" cy="1188720"/>
          </a:xfrm>
          <a:prstGeom prst="rect">
            <a:avLst/>
          </a:prstGeom>
          <a:solidFill>
            <a:srgbClr val="1A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472744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Segoe UI"/>
              </a:rPr>
              <a:t>⚡  ISS-008 RESOLVED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5029200"/>
            <a:ext cx="5577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EWallet double-deduction prevention:
Session chỉ được Complete 1 lần (idempotency check) + Serializable Transaction bảo vệ WalletService.DeductAsync().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2414015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PAYMENT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Tích hợp PayOS &amp; Bảo mật Webhook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HMAC-SHA256 | Idempotent Webhook | Real-Time Wallet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107"/>
                </a:solidFill>
                <a:latin typeface="Segoe UI"/>
              </a:rPr>
              <a:t>Luồng Nạp tiền PayOS (7 bước)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94560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1343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134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F"/>
                </a:solidFill>
                <a:latin typeface="Segoe UI"/>
              </a:rPr>
              <a:t>[Driver]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1343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Nhấn 'Nạp tiền', chọn mệnh giá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07208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79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79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9A"/>
                </a:solidFill>
                <a:latin typeface="Segoe UI"/>
              </a:rPr>
              <a:t>[API]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9260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POST /api/portal/driver/{id}/wallet/top-up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19856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53872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387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Segoe UI"/>
              </a:rPr>
              <a:t>[PayOS]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53872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Tạo Payment Link + QR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32504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5137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5137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0BECF"/>
                </a:solidFill>
                <a:latin typeface="Segoe UI"/>
              </a:rPr>
              <a:t>[Driver]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151376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Scan QR → chuyển khoản ngân hàng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45152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6402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7640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107"/>
                </a:solidFill>
                <a:latin typeface="Segoe UI"/>
              </a:rPr>
              <a:t>[PayOS]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764024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POST webhook → /api/payos/webhook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57800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37667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3766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09A"/>
                </a:solidFill>
                <a:latin typeface="Segoe UI"/>
              </a:rPr>
              <a:t>[API]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5376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Verify HMAC-SHA256 → Credit balance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870448"/>
            <a:ext cx="6858000" cy="53035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893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107"/>
                </a:solidFill>
                <a:latin typeface="Segoe UI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9893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Segoe UI"/>
              </a:rPr>
              <a:t>[SignalR]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989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Push wallet update → driver:{id}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17830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Segoe UI"/>
              </a:rPr>
              <a:t>🔐  HMAC-SHA256 Validation (ISS-003 Resolved)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79" y="2194560"/>
            <a:ext cx="4389120" cy="3200400"/>
          </a:xfrm>
          <a:prstGeom prst="rect">
            <a:avLst/>
          </a:prstGeom>
          <a:solidFill>
            <a:srgbClr val="1510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5240" y="22860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1. Nhận webhook payload từ PayOS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77063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2. Sort tất cả keys alphabetically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25526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3. Concatenate: key=value&amp;key=value...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73989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4. HMAC-SHA256 với Checksum Key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422452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5. So sánh với signature trong header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7091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6. Nếu mismatch → 401 Unauthorized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79" y="5504688"/>
            <a:ext cx="4389120" cy="658368"/>
          </a:xfrm>
          <a:prstGeom prst="rect">
            <a:avLst/>
          </a:prstGeom>
          <a:solidFill>
            <a:srgbClr val="2A1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55595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Segoe UI"/>
              </a:rPr>
              <a:t>Root Cause ISS-003: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5806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ECF"/>
                </a:solidFill>
                <a:latin typeface="Segoe UI"/>
              </a:rPr>
              <a:t>Payload serialize sai thứ tự key → custom flattener sort alphabetical trước khi hash.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2414015" cy="2560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241401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SECURITY &amp;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Bảo mật &amp; Chất lượng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5 lớp bảo vệ | NFRs đạt chuẩn | 10 Issues Resolved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5 Lớp Bảo mật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5669280" cy="71323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148840"/>
            <a:ext cx="45720" cy="7132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219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CFF"/>
                </a:solidFill>
                <a:latin typeface="Segoe UI"/>
              </a:rPr>
              <a:t>🔑  JWT + 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32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JWT 24h | BCrypt cost=11 | OAuth2 Driver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971800"/>
            <a:ext cx="5669280" cy="71323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971800"/>
            <a:ext cx="45720" cy="71323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449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CFF"/>
                </a:solidFill>
                <a:latin typeface="Segoe UI"/>
              </a:rPr>
              <a:t>🚦  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558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8 req/phút/IP cho login endpoint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60"/>
            <a:ext cx="5669280" cy="71323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94760"/>
            <a:ext cx="45720" cy="71323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679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C4C"/>
                </a:solidFill>
                <a:latin typeface="Segoe UI"/>
              </a:rPr>
              <a:t>🔒  Serializable Tx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788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Check-in &amp; EWallet deduct: IsolationLevel.Serializable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617720"/>
            <a:ext cx="5669280" cy="71323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617720"/>
            <a:ext cx="45720" cy="7132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9087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107"/>
                </a:solidFill>
                <a:latin typeface="Segoe UI"/>
              </a:rPr>
              <a:t>📋  HMAC Webhook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0176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PayOS signature verification alphabetical-sort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440680"/>
            <a:ext cx="5669280" cy="71323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440680"/>
            <a:ext cx="45720" cy="71323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5138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09A"/>
                </a:solidFill>
                <a:latin typeface="Segoe UI"/>
              </a:rPr>
              <a:t>🔍  Gitleaks Secret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24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Mọi PR: Full git history scan, block nếu phát hiện secret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Segoe UI"/>
              </a:rPr>
              <a:t>Non-Functional Requirements (Đạt)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148840"/>
            <a:ext cx="5577840" cy="566928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2219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⚡  API 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22219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09A"/>
                </a:solidFill>
                <a:latin typeface="Segoe UI"/>
              </a:rPr>
              <a:t>&lt; 500 ms (read)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816352"/>
            <a:ext cx="5577840" cy="566928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28895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⏱️  Check-in/out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889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09A"/>
                </a:solidFill>
                <a:latin typeface="Segoe UI"/>
              </a:rPr>
              <a:t>&lt; 2 giây end-to-end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83864"/>
            <a:ext cx="5577840" cy="566928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55701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👥  Concurrent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355701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09A"/>
                </a:solidFill>
                <a:latin typeface="Segoe UI"/>
              </a:rPr>
              <a:t>50 active users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151376"/>
            <a:ext cx="5577840" cy="566928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2245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🛡️  Financial Integrity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42245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09A"/>
                </a:solidFill>
                <a:latin typeface="Segoe UI"/>
              </a:rPr>
              <a:t>Serializable isolation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818888"/>
            <a:ext cx="5577840" cy="566928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4892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🤖  Background Workers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489204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E09A"/>
                </a:solidFill>
                <a:latin typeface="Segoe UI"/>
              </a:rPr>
              <a:t>Reservation &amp; Subscription expiry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532120"/>
            <a:ext cx="5577840" cy="457200"/>
          </a:xfrm>
          <a:prstGeom prst="rect">
            <a:avLst/>
          </a:prstGeom>
          <a:solidFill>
            <a:srgbClr val="051A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577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E09A"/>
                </a:solidFill>
                <a:latin typeface="Segoe UI"/>
              </a:rPr>
              <a:t>✅  10 Issues resolved — Critical: ISS-001 (Race condition), ISS-008 (Double deduction) | High: ISS-002 (OCR Linux), ISS-003 (HMAC), ISS-004 (OAuth prod)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2532888" cy="25603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2532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LIVE DEMO — 15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Kịch bản Demo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Hệ thống đã được deploy trên Railway + Firebase (Production)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11 /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11430000" cy="80467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28800"/>
            <a:ext cx="502920" cy="80467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2996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45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FF"/>
                </a:solidFill>
                <a:latin typeface="Segoe UI"/>
              </a:rPr>
              <a:t>3 phút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21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Manager Dashboard &amp; Slot Map 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0299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KPI live, bản đồ 800 chỗ màu sắc, SignalR push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11430000" cy="80467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761488"/>
            <a:ext cx="502920" cy="8046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96265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80720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Segoe UI"/>
              </a:rPr>
              <a:t>4 phút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540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Staff Check-in xe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6265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OCR nhận diện biển số → auto slot → TicketCode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94176"/>
            <a:ext cx="11430000" cy="80467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694176"/>
            <a:ext cx="502920" cy="8046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89534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7398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107"/>
                </a:solidFill>
                <a:latin typeface="Segoe UI"/>
              </a:rPr>
              <a:t>3 phút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98678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Driver: Nạp ví &amp; Đặt chỗ trước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8953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PayOS QR → webhook → balance | VIP Reservation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26864"/>
            <a:ext cx="11430000" cy="80467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626864"/>
            <a:ext cx="502920" cy="80467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" y="4828032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725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E09A"/>
                </a:solidFill>
                <a:latin typeface="Segoe UI"/>
              </a:rPr>
              <a:t>4 phút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9194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Staff Check-out &amp; Tính phí tự động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8280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Preview fee → EWallet deduct → slot freed → SignalR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59552"/>
            <a:ext cx="11430000" cy="804672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5559552"/>
            <a:ext cx="502920" cy="804672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760720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60527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8CFF"/>
                </a:solidFill>
                <a:latin typeface="Segoe UI"/>
              </a:rPr>
              <a:t>1 phút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Analytics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7607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ECF"/>
                </a:solidFill>
                <a:latin typeface="Segoe UI"/>
              </a:rPr>
              <a:t>Revenue trend 30 ngày, Zone occupancy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371600" cy="5029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🔴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Manager Dashboard &amp; Real-Time Slot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Giám sát 800 chỗ đỗ theo thời gian thực | SignalR WebSocket |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3A4A5C"/>
                </a:solidFill>
                <a:latin typeface="Segoe UI"/>
              </a:rPr>
              <a:t>[ Màn hình demo trực tiếp trên trình duyệt 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371600" cy="5029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🔴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Staff Check-in &amp; OCR Nhận diện Biển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PaddleOCR → Plate text → Auto-allocate slot → Serializable Transaction → TicketCode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3A4A5C"/>
                </a:solidFill>
                <a:latin typeface="Segoe UI"/>
              </a:rPr>
              <a:t>[ Màn hình demo trực tiếp trên trình duyệt 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371600" cy="5029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🔴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Driver: Nạp Ví PayOS &amp; Đặt chỗ trước (VIP Reservation)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PayOS QR Code → Bank transfer → HMAC Webhook → Credit balance → SignalR push wallet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3A4A5C"/>
                </a:solidFill>
                <a:latin typeface="Segoe UI"/>
              </a:rPr>
              <a:t>[ Màn hình demo trực tiếp trên trình duyệt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371600" cy="502920"/>
          </a:xfrm>
          <a:prstGeom prst="rect">
            <a:avLst/>
          </a:prstGeom>
          <a:solidFill>
            <a:srgbClr val="FF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🔴 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286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Segoe UI"/>
              </a:rPr>
              <a:t>Staff Check-out &amp; Tính phí Tự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D4FF"/>
                </a:solidFill>
                <a:latin typeface="Segoe UI"/>
              </a:rPr>
              <a:t>Fee preview: ceil(hours)×rate | Daily cap | Grace period | EWallet deduct → Session Complete → Slot freed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9260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3A4A5C"/>
                </a:solidFill>
                <a:latin typeface="Segoe UI"/>
              </a:rPr>
              <a:t>[ Màn hình demo trực tiếp trên trình duyệt 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09728"/>
            <a:ext cx="2295144" cy="256032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2295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KẾT QUẢ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Kết quả đạt được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FF"/>
                </a:solidFill>
                <a:latin typeface="Segoe UI"/>
              </a:rPr>
              <a:t>Summer 2026 — SU26SWP08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3A4A5C"/>
                </a:solidFill>
                <a:latin typeface="Segoe UI"/>
              </a:rPr>
              <a:t>16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E09A"/>
                </a:solidFill>
                <a:latin typeface="Segoe UI"/>
              </a:rPr>
              <a:t>✅  Thành tựu dự 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42 Use Cases | 9 Modules | 4 Roles (RBAC)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17 DB tables | 800+ slots | 104 zones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3 external integrations (PayOS, Google OAuth, OCR dual-engine)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10 issues resolved — bao gồm 2 CRITICAL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API &lt; 500ms | Check-in/out &lt; 2s | 50 concurrent users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CI/CD + DevSecOps (Gitleaks) hoàn chỉnh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B0BECF"/>
                </a:solidFill>
                <a:latin typeface="Segoe UI"/>
              </a:rPr>
              <a:t>▸ Production deploy: Railway API + Firebase Hosting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Segoe UI"/>
              </a:rPr>
              <a:t>🚀  Hướng phát triển tương lai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48840"/>
            <a:ext cx="5577840" cy="6400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48840"/>
            <a:ext cx="457200" cy="6400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3134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2037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📱 Mobile App (React Native)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496312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Driver UX tốt hơn, native QR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898648"/>
            <a:ext cx="5577840" cy="6400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898648"/>
            <a:ext cx="457200" cy="64008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953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📹 CCTV Auto Check-in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24612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Auto nhận diện xe vào cổng — zero staff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48456"/>
            <a:ext cx="5577840" cy="6400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648456"/>
            <a:ext cx="45720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38130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370332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🤖 AI Slot Recommendation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3995928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Personalized zone theo lịch sử Driver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4398264"/>
            <a:ext cx="5577840" cy="6400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4398264"/>
            <a:ext cx="457200" cy="6400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456285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445312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⏰ Report Scheduler (CRON)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745736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Tự động tạo daily snapshot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148072"/>
            <a:ext cx="5577840" cy="6400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5148072"/>
            <a:ext cx="457200" cy="6400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531266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52029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🌐 Multi-facility (SaaS)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5495544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Mở rộng chuỗi bãi đỗ xe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897879"/>
            <a:ext cx="5577840" cy="64008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5897879"/>
            <a:ext cx="457200" cy="640080"/>
          </a:xfrm>
          <a:prstGeom prst="rect">
            <a:avLst/>
          </a:prstGeom>
          <a:solidFill>
            <a:srgbClr val="00E0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6062471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5952743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⚡ EV Charging Integration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6245351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ECF"/>
                </a:solidFill>
                <a:latin typeface="Segoe UI"/>
              </a:rPr>
              <a:t>Quản lý sạc Zones E–I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5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Segoe UI"/>
              </a:rPr>
              <a:t>Cảm ơn Hội đồng đã lắng nghe!  |  Nhóm SU26SWP08 sẵn sàng trả lời câu hỏi &amp; demo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